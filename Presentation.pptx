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3"/>
    <p:sldId id="261" r:id="rId4"/>
    <p:sldId id="263" r:id="rId5"/>
    <p:sldId id="264" r:id="rId6"/>
    <p:sldId id="269" r:id="rId7"/>
    <p:sldId id="271" r:id="rId8"/>
    <p:sldId id="272" r:id="rId9"/>
    <p:sldId id="273" r:id="rId10"/>
    <p:sldId id="262" r:id="rId11"/>
    <p:sldId id="266" r:id="rId12"/>
    <p:sldId id="275" r:id="rId13"/>
    <p:sldId id="265" r:id="rId14"/>
    <p:sldId id="259" r:id="rId1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2"/>
    <p:restoredTop sz="94669"/>
  </p:normalViewPr>
  <p:slideViewPr>
    <p:cSldViewPr snapToGrid="0">
      <p:cViewPr varScale="1">
        <p:scale>
          <a:sx n="114" d="100"/>
          <a:sy n="114" d="100"/>
        </p:scale>
        <p:origin x="40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5F119A-807D-5370-A533-D6752E09A2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1FFF492-B5A4-B4E1-1A54-BB051BCF14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9549A11-06E6-210C-8FAE-8536FD17D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2D3E4-6751-854E-A89F-B2C2625001D0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733E1D1-0B2F-34FE-3720-A094B0D7B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271957D-2D07-20A4-40D2-9294D5512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A16FF-58FF-EB40-B159-A6B7D021B80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955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F349AA-3227-E3B9-0FF7-5AA3122A9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E7EDD29-6FC2-B1B5-C5E6-3D5DB988E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A4E137B-D917-0A12-0BE0-827A07148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2D3E4-6751-854E-A89F-B2C2625001D0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05F64B6-D5B1-C76B-9F6C-5493C6556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40189CC-7D09-DC0B-F9A7-484D2FD53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A16FF-58FF-EB40-B159-A6B7D021B80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818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6ED171-C871-EEAD-851F-6A204001F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887059B-2FFA-6EC6-B722-9EF50235AB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2AFFCCA-6059-B323-C8D9-FD71D800F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2D3E4-6751-854E-A89F-B2C2625001D0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F1AE588-4227-3153-A22D-EB49F022A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487C97F-371A-1E1D-F579-114AE11B2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A16FF-58FF-EB40-B159-A6B7D021B80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134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4A09A6-A075-0B80-C7D9-893DEB78B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9295BA2-4639-F262-D5D5-0A297A21AF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9EA4FF6-BB31-EE94-BD91-60F9E5C7DA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95B1FB8-6250-5EF4-DE6F-8B477ECF9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2D3E4-6751-854E-A89F-B2C2625001D0}" type="datetimeFigureOut">
              <a:rPr lang="en-US" smtClean="0"/>
              <a:t>12/9/25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EAC57DD-6B5A-B16F-D80C-1459FFE92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CDBF618-A662-C432-CBC9-2A2054ED4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A16FF-58FF-EB40-B159-A6B7D021B80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044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C9E5AD-EE53-29A2-7319-1423B4CA9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6177685-43A7-D542-FE0E-FF8B7D6040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021821A-A005-E6B4-AD7C-8E086BC79A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A914047-246C-ACDB-1A16-6D00E2ACF0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A19513F-60EF-7140-E5FB-046BD7D9D6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F621E1B-8F58-5E53-2ACA-121819A1F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2D3E4-6751-854E-A89F-B2C2625001D0}" type="datetimeFigureOut">
              <a:rPr lang="en-US" smtClean="0"/>
              <a:t>12/9/25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58ADB84-DD96-037B-F52A-B0DD47710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131A864-427B-F275-F6BB-AB7A072E5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A16FF-58FF-EB40-B159-A6B7D021B80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219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C276B8-01C5-27B6-192C-C6A7B4982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0301922-F428-AC3F-E1F1-441A885F7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2D3E4-6751-854E-A89F-B2C2625001D0}" type="datetimeFigureOut">
              <a:rPr lang="en-US" smtClean="0"/>
              <a:t>12/9/25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C7BEE03-4477-9117-61C3-FAC296022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80A7F7E-DE5A-4955-8940-C779BC11E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A16FF-58FF-EB40-B159-A6B7D021B80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530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52181EC-C34E-5E9B-981F-7CDE04F4C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2D3E4-6751-854E-A89F-B2C2625001D0}" type="datetimeFigureOut">
              <a:rPr lang="en-US" smtClean="0"/>
              <a:t>12/9/25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3D7DDA1-6093-25C7-10F9-A5F079EC7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6C0C4D9-3C19-92BD-4D66-D9CB83AE6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A16FF-58FF-EB40-B159-A6B7D021B80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319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66A331-62C0-7113-A6A0-EC1374C1A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51D9A8-D056-9E31-7E76-7FB622206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098C282-870E-CAC8-2DA9-65088D5DC3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6D6AFE6-713E-0131-12CD-6E87B6D49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2D3E4-6751-854E-A89F-B2C2625001D0}" type="datetimeFigureOut">
              <a:rPr lang="en-US" smtClean="0"/>
              <a:t>12/9/25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C437931-D013-4DAF-73FA-F7A098ECD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80E42C3-A81B-92C6-063E-B2F587EC7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A16FF-58FF-EB40-B159-A6B7D021B80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602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6F5C36-A091-E497-1A08-CED70B135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6A83CF3-B1B5-34F3-A22E-919861ACAE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4FCFE6D-BD50-7AEF-6AE8-9270CEE5E1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46205EA-C15C-622B-6644-FC21EC5D8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2D3E4-6751-854E-A89F-B2C2625001D0}" type="datetimeFigureOut">
              <a:rPr lang="en-US" smtClean="0"/>
              <a:t>12/9/25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3061973-DCE1-2E91-5404-EC238F635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8A18394-A258-4D8B-4016-C92FDEC72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A16FF-58FF-EB40-B159-A6B7D021B80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342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D99DD8-690D-F92E-3692-3C0796A4E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AE9DD22-A445-B3E4-FDB5-65A7CE8C68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EE427F8-4741-7F52-A8F0-C5047DAD6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2D3E4-6751-854E-A89F-B2C2625001D0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D3C9A82-730F-302E-64C6-D278F8112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B873DB8-5179-9E29-E96B-F115AEA1C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A16FF-58FF-EB40-B159-A6B7D021B80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48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92147BD-C96F-A927-0833-62FF8B70F9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0E27619-4E00-276E-589F-07AA645412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99BD062-B4BA-7757-4B5C-0517CE899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2D3E4-6751-854E-A89F-B2C2625001D0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1B45D6F-00CF-2A9A-A17F-DD307B890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352E2F1-7876-84F5-7275-F83753187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A16FF-58FF-EB40-B159-A6B7D021B80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38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14B3928-0420-B63A-8496-3DD3948CC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E742DCA-C6A2-F3EE-4F9E-4309AA7F1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E400B0A-AA0D-F629-F046-197AE597FA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B2D3E4-6751-854E-A89F-B2C2625001D0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479F601-61DE-49AC-3B82-F87EFCD70F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B619006-9356-B888-A593-66D8FCD01C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1A16FF-58FF-EB40-B159-A6B7D021B80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764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4" name="Rectangle 1030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0459807F-B6FA-44D3-9A53-C55B6B568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80681"/>
            <a:ext cx="12192000" cy="2777318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D4D8131-E904-2485-535B-9B227C6AC0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5060" y="5036234"/>
            <a:ext cx="9681882" cy="983157"/>
          </a:xfrm>
        </p:spPr>
        <p:txBody>
          <a:bodyPr anchor="b">
            <a:normAutofit/>
          </a:bodyPr>
          <a:lstStyle/>
          <a:p>
            <a:r>
              <a:rPr lang="en-US" sz="4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Ski School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884E67F-3FD6-FD7C-6085-747E005AEB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26447" y="6019391"/>
            <a:ext cx="7315199" cy="365125"/>
          </a:xfrm>
        </p:spPr>
        <p:txBody>
          <a:bodyPr anchor="t">
            <a:normAutofit/>
          </a:bodyPr>
          <a:lstStyle/>
          <a:p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Group 10 – Luca Milchrahm, Fabian Wagner</a:t>
            </a:r>
          </a:p>
        </p:txBody>
      </p:sp>
      <p:pic>
        <p:nvPicPr>
          <p:cNvPr id="1026" name="Picture 2" descr="Everything You Need to Know About Kids' Ski School - 5280">
            <a:extLst>
              <a:ext uri="{FF2B5EF4-FFF2-40B4-BE49-F238E27FC236}">
                <a16:creationId xmlns:a16="http://schemas.microsoft.com/office/drawing/2014/main" id="{34EDAA11-0B2C-87AE-6A25-84A9F7E390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819" b="14805"/>
          <a:stretch>
            <a:fillRect/>
          </a:stretch>
        </p:blipFill>
        <p:spPr bwMode="auto">
          <a:xfrm>
            <a:off x="20" y="10"/>
            <a:ext cx="12191979" cy="5886523"/>
          </a:xfrm>
          <a:custGeom>
            <a:avLst/>
            <a:gdLst/>
            <a:ahLst/>
            <a:cxnLst/>
            <a:rect l="l" t="t" r="r" b="b"/>
            <a:pathLst>
              <a:path w="12191999" h="5886533">
                <a:moveTo>
                  <a:pt x="4721173" y="4907914"/>
                </a:moveTo>
                <a:lnTo>
                  <a:pt x="4722109" y="4908125"/>
                </a:lnTo>
                <a:cubicBezTo>
                  <a:pt x="4721143" y="4908767"/>
                  <a:pt x="4718263" y="4909373"/>
                  <a:pt x="4717199" y="4909396"/>
                </a:cubicBez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5751311"/>
                </a:lnTo>
                <a:lnTo>
                  <a:pt x="12140860" y="5770509"/>
                </a:lnTo>
                <a:cubicBezTo>
                  <a:pt x="12126656" y="5772723"/>
                  <a:pt x="12093589" y="5827925"/>
                  <a:pt x="12080161" y="5826358"/>
                </a:cubicBezTo>
                <a:cubicBezTo>
                  <a:pt x="11978188" y="5850511"/>
                  <a:pt x="11967361" y="5873564"/>
                  <a:pt x="11917885" y="5861578"/>
                </a:cubicBezTo>
                <a:cubicBezTo>
                  <a:pt x="11872779" y="5859863"/>
                  <a:pt x="11928861" y="5896778"/>
                  <a:pt x="11894610" y="5883738"/>
                </a:cubicBezTo>
                <a:cubicBezTo>
                  <a:pt x="11860359" y="5870698"/>
                  <a:pt x="11736091" y="5807232"/>
                  <a:pt x="11712379" y="5783337"/>
                </a:cubicBezTo>
                <a:cubicBezTo>
                  <a:pt x="11688667" y="5759442"/>
                  <a:pt x="11627912" y="5782933"/>
                  <a:pt x="11585366" y="5740371"/>
                </a:cubicBezTo>
                <a:lnTo>
                  <a:pt x="11516470" y="5663679"/>
                </a:lnTo>
                <a:cubicBezTo>
                  <a:pt x="11468274" y="5661847"/>
                  <a:pt x="11507335" y="5626593"/>
                  <a:pt x="11462692" y="5610127"/>
                </a:cubicBezTo>
                <a:cubicBezTo>
                  <a:pt x="11417567" y="5608500"/>
                  <a:pt x="11408021" y="5556613"/>
                  <a:pt x="11369712" y="5548654"/>
                </a:cubicBezTo>
                <a:cubicBezTo>
                  <a:pt x="11354317" y="5554704"/>
                  <a:pt x="11288328" y="5499810"/>
                  <a:pt x="11273969" y="5488986"/>
                </a:cubicBezTo>
                <a:cubicBezTo>
                  <a:pt x="11231913" y="5490378"/>
                  <a:pt x="11221973" y="5480544"/>
                  <a:pt x="11195084" y="5467967"/>
                </a:cubicBezTo>
                <a:cubicBezTo>
                  <a:pt x="11164086" y="5497749"/>
                  <a:pt x="11171649" y="5471790"/>
                  <a:pt x="11143408" y="5468614"/>
                </a:cubicBezTo>
                <a:cubicBezTo>
                  <a:pt x="11125906" y="5464975"/>
                  <a:pt x="11102603" y="5460835"/>
                  <a:pt x="11085935" y="5459365"/>
                </a:cubicBezTo>
                <a:cubicBezTo>
                  <a:pt x="11057493" y="5459661"/>
                  <a:pt x="11029906" y="5441496"/>
                  <a:pt x="11030953" y="5456484"/>
                </a:cubicBezTo>
                <a:cubicBezTo>
                  <a:pt x="11007784" y="5459001"/>
                  <a:pt x="10982005" y="5463178"/>
                  <a:pt x="10951060" y="5461240"/>
                </a:cubicBezTo>
                <a:cubicBezTo>
                  <a:pt x="10885365" y="5424406"/>
                  <a:pt x="10915288" y="5460968"/>
                  <a:pt x="10857721" y="5448157"/>
                </a:cubicBezTo>
                <a:cubicBezTo>
                  <a:pt x="10806646" y="5435790"/>
                  <a:pt x="10707075" y="5402712"/>
                  <a:pt x="10644616" y="5387039"/>
                </a:cubicBezTo>
                <a:cubicBezTo>
                  <a:pt x="10616446" y="5382224"/>
                  <a:pt x="10558603" y="5371613"/>
                  <a:pt x="10519277" y="5366793"/>
                </a:cubicBezTo>
                <a:cubicBezTo>
                  <a:pt x="10495461" y="5368312"/>
                  <a:pt x="10473830" y="5354868"/>
                  <a:pt x="10445981" y="5364735"/>
                </a:cubicBezTo>
                <a:cubicBezTo>
                  <a:pt x="10436536" y="5368773"/>
                  <a:pt x="10409281" y="5367966"/>
                  <a:pt x="10383865" y="5360888"/>
                </a:cubicBezTo>
                <a:cubicBezTo>
                  <a:pt x="10374827" y="5369095"/>
                  <a:pt x="10347864" y="5360432"/>
                  <a:pt x="10336852" y="5360277"/>
                </a:cubicBezTo>
                <a:cubicBezTo>
                  <a:pt x="10323586" y="5366987"/>
                  <a:pt x="10274741" y="5357921"/>
                  <a:pt x="10261098" y="5350526"/>
                </a:cubicBezTo>
                <a:lnTo>
                  <a:pt x="10126497" y="5339011"/>
                </a:lnTo>
                <a:lnTo>
                  <a:pt x="10082166" y="5336916"/>
                </a:lnTo>
                <a:cubicBezTo>
                  <a:pt x="10074567" y="5338985"/>
                  <a:pt x="10046860" y="5337657"/>
                  <a:pt x="10039237" y="5338580"/>
                </a:cubicBezTo>
                <a:cubicBezTo>
                  <a:pt x="9998458" y="5328479"/>
                  <a:pt x="9984394" y="5327989"/>
                  <a:pt x="9960016" y="5323065"/>
                </a:cubicBezTo>
                <a:cubicBezTo>
                  <a:pt x="9918980" y="5322923"/>
                  <a:pt x="9888741" y="5326122"/>
                  <a:pt x="9847789" y="5316297"/>
                </a:cubicBezTo>
                <a:lnTo>
                  <a:pt x="9728306" y="5296090"/>
                </a:lnTo>
                <a:cubicBezTo>
                  <a:pt x="9675056" y="5305676"/>
                  <a:pt x="9602035" y="5297282"/>
                  <a:pt x="9584504" y="5284670"/>
                </a:cubicBezTo>
                <a:cubicBezTo>
                  <a:pt x="9518952" y="5270394"/>
                  <a:pt x="9415429" y="5244268"/>
                  <a:pt x="9343049" y="5238968"/>
                </a:cubicBezTo>
                <a:lnTo>
                  <a:pt x="9231367" y="5187063"/>
                </a:lnTo>
                <a:lnTo>
                  <a:pt x="9194807" y="5176984"/>
                </a:lnTo>
                <a:lnTo>
                  <a:pt x="9189243" y="5167745"/>
                </a:lnTo>
                <a:lnTo>
                  <a:pt x="9151229" y="5156543"/>
                </a:lnTo>
                <a:lnTo>
                  <a:pt x="9150207" y="5157608"/>
                </a:lnTo>
                <a:cubicBezTo>
                  <a:pt x="9147045" y="5159739"/>
                  <a:pt x="9143081" y="5160831"/>
                  <a:pt x="9137315" y="5159777"/>
                </a:cubicBezTo>
                <a:cubicBezTo>
                  <a:pt x="9138862" y="5179261"/>
                  <a:pt x="9130952" y="5165972"/>
                  <a:pt x="9113809" y="5161143"/>
                </a:cubicBezTo>
                <a:cubicBezTo>
                  <a:pt x="9112388" y="5190326"/>
                  <a:pt x="9068114" y="5155892"/>
                  <a:pt x="9053450" y="5169457"/>
                </a:cubicBezTo>
                <a:lnTo>
                  <a:pt x="9005483" y="5166172"/>
                </a:lnTo>
                <a:lnTo>
                  <a:pt x="9005198" y="5166412"/>
                </a:lnTo>
                <a:cubicBezTo>
                  <a:pt x="9003143" y="5166632"/>
                  <a:pt x="9000324" y="5166304"/>
                  <a:pt x="8996229" y="5165201"/>
                </a:cubicBezTo>
                <a:lnTo>
                  <a:pt x="8990391" y="5163140"/>
                </a:lnTo>
                <a:lnTo>
                  <a:pt x="8974334" y="5159914"/>
                </a:lnTo>
                <a:lnTo>
                  <a:pt x="8968008" y="5160614"/>
                </a:lnTo>
                <a:lnTo>
                  <a:pt x="8963045" y="5162839"/>
                </a:lnTo>
                <a:cubicBezTo>
                  <a:pt x="8954690" y="5154888"/>
                  <a:pt x="8955517" y="5145940"/>
                  <a:pt x="8928985" y="5166027"/>
                </a:cubicBezTo>
                <a:cubicBezTo>
                  <a:pt x="8898031" y="5165007"/>
                  <a:pt x="8789300" y="5150352"/>
                  <a:pt x="8752441" y="5146795"/>
                </a:cubicBezTo>
                <a:cubicBezTo>
                  <a:pt x="8719819" y="5136075"/>
                  <a:pt x="8748194" y="5149736"/>
                  <a:pt x="8707844" y="5144694"/>
                </a:cubicBezTo>
                <a:cubicBezTo>
                  <a:pt x="8671606" y="5125159"/>
                  <a:pt x="8639142" y="5141599"/>
                  <a:pt x="8596068" y="5136122"/>
                </a:cubicBezTo>
                <a:lnTo>
                  <a:pt x="8525227" y="5150964"/>
                </a:lnTo>
                <a:lnTo>
                  <a:pt x="8510980" y="5145049"/>
                </a:lnTo>
                <a:lnTo>
                  <a:pt x="8506164" y="5142048"/>
                </a:lnTo>
                <a:cubicBezTo>
                  <a:pt x="8502646" y="5140271"/>
                  <a:pt x="8500045" y="5139460"/>
                  <a:pt x="8497965" y="5139310"/>
                </a:cubicBezTo>
                <a:lnTo>
                  <a:pt x="8497591" y="5139489"/>
                </a:lnTo>
                <a:lnTo>
                  <a:pt x="8490246" y="5136439"/>
                </a:lnTo>
                <a:lnTo>
                  <a:pt x="8367179" y="5122397"/>
                </a:lnTo>
                <a:cubicBezTo>
                  <a:pt x="8362021" y="5120372"/>
                  <a:pt x="8357730" y="5120720"/>
                  <a:pt x="8353796" y="5122203"/>
                </a:cubicBezTo>
                <a:lnTo>
                  <a:pt x="8352369" y="5123043"/>
                </a:lnTo>
                <a:lnTo>
                  <a:pt x="8320101" y="5105625"/>
                </a:lnTo>
                <a:lnTo>
                  <a:pt x="8314429" y="5105299"/>
                </a:lnTo>
                <a:lnTo>
                  <a:pt x="8295170" y="5091404"/>
                </a:lnTo>
                <a:lnTo>
                  <a:pt x="8284273" y="5085581"/>
                </a:lnTo>
                <a:lnTo>
                  <a:pt x="8283146" y="5081138"/>
                </a:lnTo>
                <a:cubicBezTo>
                  <a:pt x="8280842" y="5077893"/>
                  <a:pt x="8276148" y="5075245"/>
                  <a:pt x="8266072" y="5073963"/>
                </a:cubicBezTo>
                <a:lnTo>
                  <a:pt x="8263373" y="5074193"/>
                </a:lnTo>
                <a:lnTo>
                  <a:pt x="8252030" y="5064350"/>
                </a:lnTo>
                <a:cubicBezTo>
                  <a:pt x="8248856" y="5060500"/>
                  <a:pt x="8246644" y="5056218"/>
                  <a:pt x="8245831" y="5051358"/>
                </a:cubicBezTo>
                <a:cubicBezTo>
                  <a:pt x="8181824" y="5054265"/>
                  <a:pt x="8147127" y="5020143"/>
                  <a:pt x="8090268" y="5005197"/>
                </a:cubicBezTo>
                <a:cubicBezTo>
                  <a:pt x="8025464" y="4982055"/>
                  <a:pt x="7967067" y="4960819"/>
                  <a:pt x="7905404" y="4963224"/>
                </a:cubicBezTo>
                <a:cubicBezTo>
                  <a:pt x="7835116" y="4948312"/>
                  <a:pt x="7780962" y="4946081"/>
                  <a:pt x="7718741" y="4937509"/>
                </a:cubicBezTo>
                <a:lnTo>
                  <a:pt x="7614343" y="4940980"/>
                </a:lnTo>
                <a:lnTo>
                  <a:pt x="7527539" y="4935152"/>
                </a:lnTo>
                <a:lnTo>
                  <a:pt x="7519567" y="4932599"/>
                </a:lnTo>
                <a:cubicBezTo>
                  <a:pt x="7513989" y="4931260"/>
                  <a:pt x="7510169" y="4930910"/>
                  <a:pt x="7507408" y="4931264"/>
                </a:cubicBezTo>
                <a:lnTo>
                  <a:pt x="7507036" y="4931591"/>
                </a:lnTo>
                <a:lnTo>
                  <a:pt x="7495791" y="4929639"/>
                </a:lnTo>
                <a:cubicBezTo>
                  <a:pt x="7476982" y="4925521"/>
                  <a:pt x="7422524" y="4942937"/>
                  <a:pt x="7405387" y="4937744"/>
                </a:cubicBezTo>
                <a:cubicBezTo>
                  <a:pt x="7374785" y="4940694"/>
                  <a:pt x="7333986" y="4941799"/>
                  <a:pt x="7312176" y="4947339"/>
                </a:cubicBezTo>
                <a:lnTo>
                  <a:pt x="7310849" y="4948781"/>
                </a:lnTo>
                <a:lnTo>
                  <a:pt x="7218556" y="4923532"/>
                </a:lnTo>
                <a:lnTo>
                  <a:pt x="7201098" y="4918982"/>
                </a:lnTo>
                <a:lnTo>
                  <a:pt x="7197000" y="4913624"/>
                </a:lnTo>
                <a:cubicBezTo>
                  <a:pt x="7192108" y="4910101"/>
                  <a:pt x="7184502" y="4907962"/>
                  <a:pt x="7170804" y="4908976"/>
                </a:cubicBezTo>
                <a:lnTo>
                  <a:pt x="7096984" y="4896748"/>
                </a:lnTo>
                <a:cubicBezTo>
                  <a:pt x="7061144" y="4895770"/>
                  <a:pt x="7050185" y="4894793"/>
                  <a:pt x="7018492" y="4897122"/>
                </a:cubicBezTo>
                <a:cubicBezTo>
                  <a:pt x="6937524" y="4886184"/>
                  <a:pt x="6943641" y="4862018"/>
                  <a:pt x="6904142" y="4867616"/>
                </a:cubicBezTo>
                <a:cubicBezTo>
                  <a:pt x="6871918" y="4872824"/>
                  <a:pt x="6787985" y="4853750"/>
                  <a:pt x="6708218" y="4839661"/>
                </a:cubicBezTo>
                <a:cubicBezTo>
                  <a:pt x="6649102" y="4830206"/>
                  <a:pt x="6628102" y="4816105"/>
                  <a:pt x="6549451" y="4810885"/>
                </a:cubicBezTo>
                <a:cubicBezTo>
                  <a:pt x="6472150" y="4766795"/>
                  <a:pt x="6409692" y="4790518"/>
                  <a:pt x="6317556" y="4764085"/>
                </a:cubicBezTo>
                <a:cubicBezTo>
                  <a:pt x="6297547" y="4748563"/>
                  <a:pt x="6209288" y="4765756"/>
                  <a:pt x="6168670" y="4761998"/>
                </a:cubicBezTo>
                <a:cubicBezTo>
                  <a:pt x="6128052" y="4758240"/>
                  <a:pt x="6090536" y="4744692"/>
                  <a:pt x="6073844" y="4741536"/>
                </a:cubicBezTo>
                <a:lnTo>
                  <a:pt x="6068526" y="4743073"/>
                </a:lnTo>
                <a:lnTo>
                  <a:pt x="6048634" y="4742390"/>
                </a:lnTo>
                <a:lnTo>
                  <a:pt x="6041279" y="4750739"/>
                </a:lnTo>
                <a:lnTo>
                  <a:pt x="6010088" y="4755832"/>
                </a:lnTo>
                <a:cubicBezTo>
                  <a:pt x="5998677" y="4756419"/>
                  <a:pt x="5970124" y="4755506"/>
                  <a:pt x="5957373" y="4752188"/>
                </a:cubicBezTo>
                <a:lnTo>
                  <a:pt x="5758915" y="4736496"/>
                </a:lnTo>
                <a:lnTo>
                  <a:pt x="5626957" y="4735473"/>
                </a:lnTo>
                <a:lnTo>
                  <a:pt x="5470902" y="4749493"/>
                </a:lnTo>
                <a:cubicBezTo>
                  <a:pt x="5478131" y="4762521"/>
                  <a:pt x="5439006" y="4748455"/>
                  <a:pt x="5432757" y="4760746"/>
                </a:cubicBezTo>
                <a:cubicBezTo>
                  <a:pt x="5429365" y="4770778"/>
                  <a:pt x="5391824" y="4775462"/>
                  <a:pt x="5381664" y="4778448"/>
                </a:cubicBezTo>
                <a:lnTo>
                  <a:pt x="5261760" y="4798865"/>
                </a:lnTo>
                <a:cubicBezTo>
                  <a:pt x="5251595" y="4799049"/>
                  <a:pt x="5230547" y="4807359"/>
                  <a:pt x="5222959" y="4809989"/>
                </a:cubicBezTo>
                <a:lnTo>
                  <a:pt x="5174657" y="4812979"/>
                </a:lnTo>
                <a:lnTo>
                  <a:pt x="5156551" y="4820202"/>
                </a:lnTo>
                <a:lnTo>
                  <a:pt x="5142595" y="4823602"/>
                </a:lnTo>
                <a:lnTo>
                  <a:pt x="5139593" y="4825703"/>
                </a:lnTo>
                <a:cubicBezTo>
                  <a:pt x="5133873" y="4829743"/>
                  <a:pt x="5128076" y="4833554"/>
                  <a:pt x="5121656" y="4836556"/>
                </a:cubicBezTo>
                <a:cubicBezTo>
                  <a:pt x="5108317" y="4807937"/>
                  <a:pt x="5064853" y="4857373"/>
                  <a:pt x="5065787" y="4829985"/>
                </a:cubicBezTo>
                <a:cubicBezTo>
                  <a:pt x="5028193" y="4841501"/>
                  <a:pt x="5038944" y="4812412"/>
                  <a:pt x="5011510" y="4846366"/>
                </a:cubicBezTo>
                <a:cubicBezTo>
                  <a:pt x="4937023" y="4845983"/>
                  <a:pt x="4916353" y="4832976"/>
                  <a:pt x="4840437" y="4870383"/>
                </a:cubicBezTo>
                <a:cubicBezTo>
                  <a:pt x="4806739" y="4887025"/>
                  <a:pt x="4784106" y="4898171"/>
                  <a:pt x="4762444" y="4898151"/>
                </a:cubicBezTo>
                <a:cubicBezTo>
                  <a:pt x="4741323" y="4902652"/>
                  <a:pt x="4729481" y="4905474"/>
                  <a:pt x="4723182" y="4907166"/>
                </a:cubicBezTo>
                <a:lnTo>
                  <a:pt x="4721173" y="4907914"/>
                </a:lnTo>
                <a:lnTo>
                  <a:pt x="4715524" y="4906639"/>
                </a:lnTo>
                <a:cubicBezTo>
                  <a:pt x="4680148" y="4913595"/>
                  <a:pt x="4524744" y="4914403"/>
                  <a:pt x="4515810" y="4916541"/>
                </a:cubicBezTo>
                <a:cubicBezTo>
                  <a:pt x="4457819" y="4929653"/>
                  <a:pt x="4462659" y="4930394"/>
                  <a:pt x="4428539" y="4927192"/>
                </a:cubicBezTo>
                <a:cubicBezTo>
                  <a:pt x="4423303" y="4923821"/>
                  <a:pt x="4368974" y="4930115"/>
                  <a:pt x="4362872" y="4928538"/>
                </a:cubicBezTo>
                <a:lnTo>
                  <a:pt x="4316962" y="4921923"/>
                </a:lnTo>
                <a:lnTo>
                  <a:pt x="4315106" y="4923264"/>
                </a:lnTo>
                <a:cubicBezTo>
                  <a:pt x="4306123" y="4926635"/>
                  <a:pt x="4299993" y="4926634"/>
                  <a:pt x="4295140" y="4925143"/>
                </a:cubicBezTo>
                <a:lnTo>
                  <a:pt x="4290059" y="4922226"/>
                </a:lnTo>
                <a:lnTo>
                  <a:pt x="4276138" y="4922472"/>
                </a:lnTo>
                <a:lnTo>
                  <a:pt x="4248113" y="4920148"/>
                </a:lnTo>
                <a:lnTo>
                  <a:pt x="4202046" y="4922943"/>
                </a:lnTo>
                <a:cubicBezTo>
                  <a:pt x="4201945" y="4923363"/>
                  <a:pt x="4201842" y="4923782"/>
                  <a:pt x="4201741" y="4924202"/>
                </a:cubicBezTo>
                <a:cubicBezTo>
                  <a:pt x="4200116" y="4927039"/>
                  <a:pt x="4197140" y="4929158"/>
                  <a:pt x="4191245" y="4929836"/>
                </a:cubicBezTo>
                <a:cubicBezTo>
                  <a:pt x="4204212" y="4947125"/>
                  <a:pt x="4161274" y="4945230"/>
                  <a:pt x="4142742" y="4945701"/>
                </a:cubicBezTo>
                <a:cubicBezTo>
                  <a:pt x="4124717" y="4952767"/>
                  <a:pt x="4099099" y="4966347"/>
                  <a:pt x="4083094" y="4972234"/>
                </a:cubicBezTo>
                <a:lnTo>
                  <a:pt x="4074543" y="4973069"/>
                </a:lnTo>
                <a:cubicBezTo>
                  <a:pt x="4074504" y="4973170"/>
                  <a:pt x="4074463" y="4973269"/>
                  <a:pt x="4074424" y="4973368"/>
                </a:cubicBezTo>
                <a:cubicBezTo>
                  <a:pt x="4072678" y="4974152"/>
                  <a:pt x="4069906" y="4974653"/>
                  <a:pt x="4065507" y="4974812"/>
                </a:cubicBezTo>
                <a:lnTo>
                  <a:pt x="4058951" y="4974594"/>
                </a:lnTo>
                <a:lnTo>
                  <a:pt x="4042361" y="4976215"/>
                </a:lnTo>
                <a:lnTo>
                  <a:pt x="4036993" y="4978649"/>
                </a:lnTo>
                <a:lnTo>
                  <a:pt x="4035360" y="4982316"/>
                </a:lnTo>
                <a:lnTo>
                  <a:pt x="4033775" y="4982081"/>
                </a:lnTo>
                <a:cubicBezTo>
                  <a:pt x="4021424" y="4977217"/>
                  <a:pt x="4016874" y="4968841"/>
                  <a:pt x="4004535" y="4994649"/>
                </a:cubicBezTo>
                <a:cubicBezTo>
                  <a:pt x="3976667" y="4987584"/>
                  <a:pt x="3972977" y="5002913"/>
                  <a:pt x="3936843" y="5012106"/>
                </a:cubicBezTo>
                <a:cubicBezTo>
                  <a:pt x="3920506" y="5004382"/>
                  <a:pt x="3908535" y="5009071"/>
                  <a:pt x="3897272" y="5017761"/>
                </a:cubicBezTo>
                <a:cubicBezTo>
                  <a:pt x="3861092" y="5017265"/>
                  <a:pt x="3829628" y="5031135"/>
                  <a:pt x="3789757" y="5037999"/>
                </a:cubicBezTo>
                <a:cubicBezTo>
                  <a:pt x="3741007" y="5052705"/>
                  <a:pt x="3725129" y="5054682"/>
                  <a:pt x="3682510" y="5061922"/>
                </a:cubicBezTo>
                <a:lnTo>
                  <a:pt x="3610032" y="5094193"/>
                </a:lnTo>
                <a:lnTo>
                  <a:pt x="3603852" y="5092831"/>
                </a:lnTo>
                <a:cubicBezTo>
                  <a:pt x="3599580" y="5092212"/>
                  <a:pt x="3596726" y="5092212"/>
                  <a:pt x="3594733" y="5092667"/>
                </a:cubicBezTo>
                <a:lnTo>
                  <a:pt x="3594498" y="5092936"/>
                </a:lnTo>
                <a:lnTo>
                  <a:pt x="3585975" y="5092246"/>
                </a:lnTo>
                <a:cubicBezTo>
                  <a:pt x="3571623" y="5090455"/>
                  <a:pt x="3549389" y="5104654"/>
                  <a:pt x="3536132" y="5101945"/>
                </a:cubicBezTo>
                <a:cubicBezTo>
                  <a:pt x="3513940" y="5106241"/>
                  <a:pt x="3488622" y="5099976"/>
                  <a:pt x="3473220" y="5105606"/>
                </a:cubicBezTo>
                <a:lnTo>
                  <a:pt x="3400725" y="5117654"/>
                </a:lnTo>
                <a:lnTo>
                  <a:pt x="3375935" y="5106247"/>
                </a:lnTo>
                <a:lnTo>
                  <a:pt x="3348219" y="5109860"/>
                </a:lnTo>
                <a:cubicBezTo>
                  <a:pt x="3337206" y="5110533"/>
                  <a:pt x="3327054" y="5111295"/>
                  <a:pt x="3319639" y="5114795"/>
                </a:cubicBezTo>
                <a:lnTo>
                  <a:pt x="3248529" y="5133347"/>
                </a:lnTo>
                <a:lnTo>
                  <a:pt x="3210308" y="5119794"/>
                </a:lnTo>
                <a:cubicBezTo>
                  <a:pt x="3206088" y="5117870"/>
                  <a:pt x="3200152" y="5117326"/>
                  <a:pt x="3190375" y="5119915"/>
                </a:cubicBezTo>
                <a:lnTo>
                  <a:pt x="3188145" y="5121096"/>
                </a:lnTo>
                <a:cubicBezTo>
                  <a:pt x="3182625" y="5119116"/>
                  <a:pt x="3141856" y="5121682"/>
                  <a:pt x="3108596" y="5122416"/>
                </a:cubicBezTo>
                <a:cubicBezTo>
                  <a:pt x="3055968" y="5124842"/>
                  <a:pt x="3048940" y="5117475"/>
                  <a:pt x="2988584" y="5125502"/>
                </a:cubicBezTo>
                <a:cubicBezTo>
                  <a:pt x="2928853" y="5129690"/>
                  <a:pt x="2917951" y="5124649"/>
                  <a:pt x="2876540" y="5133019"/>
                </a:cubicBezTo>
                <a:lnTo>
                  <a:pt x="2626864" y="5133771"/>
                </a:lnTo>
                <a:cubicBezTo>
                  <a:pt x="2562348" y="5111858"/>
                  <a:pt x="2563422" y="5142456"/>
                  <a:pt x="2491422" y="5135486"/>
                </a:cubicBezTo>
                <a:cubicBezTo>
                  <a:pt x="2433091" y="5200962"/>
                  <a:pt x="2455709" y="5160483"/>
                  <a:pt x="2415617" y="5168715"/>
                </a:cubicBezTo>
                <a:lnTo>
                  <a:pt x="2290098" y="5166151"/>
                </a:lnTo>
                <a:cubicBezTo>
                  <a:pt x="2257057" y="5152522"/>
                  <a:pt x="2202458" y="5187690"/>
                  <a:pt x="2161714" y="5169302"/>
                </a:cubicBezTo>
                <a:cubicBezTo>
                  <a:pt x="2122714" y="5172302"/>
                  <a:pt x="2080450" y="5180350"/>
                  <a:pt x="2056089" y="5184144"/>
                </a:cubicBezTo>
                <a:cubicBezTo>
                  <a:pt x="2019828" y="5191108"/>
                  <a:pt x="1978839" y="5203797"/>
                  <a:pt x="1944153" y="5211084"/>
                </a:cubicBezTo>
                <a:cubicBezTo>
                  <a:pt x="1925867" y="5199079"/>
                  <a:pt x="1896027" y="5224183"/>
                  <a:pt x="1847968" y="5227868"/>
                </a:cubicBezTo>
                <a:cubicBezTo>
                  <a:pt x="1827977" y="5213971"/>
                  <a:pt x="1815570" y="5230544"/>
                  <a:pt x="1777083" y="5212267"/>
                </a:cubicBezTo>
                <a:cubicBezTo>
                  <a:pt x="1775439" y="5214216"/>
                  <a:pt x="1773397" y="5216035"/>
                  <a:pt x="1771025" y="5217668"/>
                </a:cubicBezTo>
                <a:cubicBezTo>
                  <a:pt x="1757251" y="5227146"/>
                  <a:pt x="1735528" y="5228402"/>
                  <a:pt x="1722509" y="5220470"/>
                </a:cubicBezTo>
                <a:cubicBezTo>
                  <a:pt x="1691779" y="5208440"/>
                  <a:pt x="1662321" y="5203305"/>
                  <a:pt x="1633941" y="5200774"/>
                </a:cubicBezTo>
                <a:lnTo>
                  <a:pt x="1586145" y="5210184"/>
                </a:lnTo>
                <a:cubicBezTo>
                  <a:pt x="1567948" y="5215416"/>
                  <a:pt x="1545900" y="5226363"/>
                  <a:pt x="1524748" y="5232173"/>
                </a:cubicBezTo>
                <a:cubicBezTo>
                  <a:pt x="1502586" y="5235395"/>
                  <a:pt x="1478013" y="5230993"/>
                  <a:pt x="1459242" y="5245044"/>
                </a:cubicBezTo>
                <a:cubicBezTo>
                  <a:pt x="1421474" y="5260197"/>
                  <a:pt x="1374524" y="5244220"/>
                  <a:pt x="1349457" y="5280705"/>
                </a:cubicBezTo>
                <a:cubicBezTo>
                  <a:pt x="1273276" y="5302389"/>
                  <a:pt x="1121512" y="5336260"/>
                  <a:pt x="1009212" y="5361227"/>
                </a:cubicBezTo>
                <a:cubicBezTo>
                  <a:pt x="939016" y="5373529"/>
                  <a:pt x="866895" y="5370149"/>
                  <a:pt x="808572" y="5377024"/>
                </a:cubicBezTo>
                <a:cubicBezTo>
                  <a:pt x="802823" y="5374184"/>
                  <a:pt x="726016" y="5397963"/>
                  <a:pt x="719549" y="5396991"/>
                </a:cubicBezTo>
                <a:lnTo>
                  <a:pt x="698795" y="5397657"/>
                </a:lnTo>
                <a:cubicBezTo>
                  <a:pt x="689833" y="5401894"/>
                  <a:pt x="683492" y="5402495"/>
                  <a:pt x="678327" y="5401487"/>
                </a:cubicBezTo>
                <a:lnTo>
                  <a:pt x="672784" y="5399085"/>
                </a:lnTo>
                <a:lnTo>
                  <a:pt x="658406" y="5400696"/>
                </a:lnTo>
                <a:lnTo>
                  <a:pt x="629185" y="5401132"/>
                </a:lnTo>
                <a:lnTo>
                  <a:pt x="624558" y="5403782"/>
                </a:lnTo>
                <a:lnTo>
                  <a:pt x="581798" y="5408438"/>
                </a:lnTo>
                <a:cubicBezTo>
                  <a:pt x="581736" y="5408865"/>
                  <a:pt x="581671" y="5409294"/>
                  <a:pt x="581608" y="5409722"/>
                </a:cubicBezTo>
                <a:cubicBezTo>
                  <a:pt x="580204" y="5412704"/>
                  <a:pt x="577331" y="5415106"/>
                  <a:pt x="571299" y="5416358"/>
                </a:cubicBezTo>
                <a:cubicBezTo>
                  <a:pt x="551623" y="5426267"/>
                  <a:pt x="484499" y="5459654"/>
                  <a:pt x="463549" y="5469173"/>
                </a:cubicBezTo>
                <a:cubicBezTo>
                  <a:pt x="453136" y="5470720"/>
                  <a:pt x="449731" y="5472678"/>
                  <a:pt x="445606" y="5473465"/>
                </a:cubicBezTo>
                <a:lnTo>
                  <a:pt x="438799" y="5473893"/>
                </a:lnTo>
                <a:cubicBezTo>
                  <a:pt x="417222" y="5482183"/>
                  <a:pt x="343312" y="5513407"/>
                  <a:pt x="316138" y="5523213"/>
                </a:cubicBezTo>
                <a:cubicBezTo>
                  <a:pt x="298481" y="5517132"/>
                  <a:pt x="286556" y="5522972"/>
                  <a:pt x="275748" y="5532726"/>
                </a:cubicBezTo>
                <a:cubicBezTo>
                  <a:pt x="238274" y="5535784"/>
                  <a:pt x="207076" y="5552679"/>
                  <a:pt x="166496" y="5563424"/>
                </a:cubicBezTo>
                <a:lnTo>
                  <a:pt x="0" y="5629888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5338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25E76-E762-80FC-CFF3-312643B0C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BD31CD-2331-1F98-9B4B-FE413EB0B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Requirements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4E28B9A-EA33-F431-0662-0561A9B9C6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buSzPct val="120000"/>
              <a:buNone/>
            </a:pPr>
            <a:r>
              <a:rPr lang="en-US" b="1" noProof="0" dirty="0"/>
              <a:t>1. Business selection and analysis</a:t>
            </a:r>
          </a:p>
          <a:p>
            <a:pPr>
              <a:lnSpc>
                <a:spcPct val="120000"/>
              </a:lnSpc>
              <a:buSzPct val="120000"/>
              <a:buBlip>
                <a:blip r:embed="rId2"/>
              </a:buBlip>
            </a:pPr>
            <a:r>
              <a:rPr lang="en-US" dirty="0"/>
              <a:t> </a:t>
            </a:r>
            <a:r>
              <a:rPr lang="en-US" noProof="0" dirty="0"/>
              <a:t>Business domain</a:t>
            </a:r>
          </a:p>
          <a:p>
            <a:pPr>
              <a:lnSpc>
                <a:spcPct val="120000"/>
              </a:lnSpc>
              <a:buSzPct val="120000"/>
              <a:buBlip>
                <a:blip r:embed="rId2"/>
              </a:buBlip>
            </a:pPr>
            <a:r>
              <a:rPr lang="en-US" dirty="0"/>
              <a:t> </a:t>
            </a:r>
            <a:r>
              <a:rPr lang="en-US" noProof="0" dirty="0"/>
              <a:t>Business activities/processes</a:t>
            </a:r>
          </a:p>
          <a:p>
            <a:pPr>
              <a:lnSpc>
                <a:spcPct val="120000"/>
              </a:lnSpc>
              <a:buSzPct val="120000"/>
              <a:buBlip>
                <a:blip r:embed="rId2"/>
              </a:buBlip>
            </a:pPr>
            <a:r>
              <a:rPr lang="en-US" noProof="0" dirty="0"/>
              <a:t> Explain how those activities/processes need and use data</a:t>
            </a:r>
          </a:p>
          <a:p>
            <a:pPr marL="0" indent="0">
              <a:lnSpc>
                <a:spcPct val="120000"/>
              </a:lnSpc>
              <a:buSzPct val="120000"/>
              <a:buNone/>
            </a:pPr>
            <a:r>
              <a:rPr lang="en-US" b="1" noProof="0" dirty="0"/>
              <a:t>2. Database design</a:t>
            </a:r>
          </a:p>
          <a:p>
            <a:pPr>
              <a:lnSpc>
                <a:spcPct val="120000"/>
              </a:lnSpc>
              <a:buSzPct val="120000"/>
              <a:buBlip>
                <a:blip r:embed="rId2"/>
              </a:buBlip>
            </a:pPr>
            <a:r>
              <a:rPr lang="en-US" noProof="0" dirty="0"/>
              <a:t> UML diagram</a:t>
            </a:r>
          </a:p>
          <a:p>
            <a:pPr>
              <a:lnSpc>
                <a:spcPct val="120000"/>
              </a:lnSpc>
              <a:buSzPct val="120000"/>
              <a:buBlip>
                <a:blip r:embed="rId2"/>
              </a:buBlip>
            </a:pPr>
            <a:r>
              <a:rPr lang="en-US" noProof="0" dirty="0"/>
              <a:t> Functional dependencies</a:t>
            </a:r>
          </a:p>
          <a:p>
            <a:pPr>
              <a:lnSpc>
                <a:spcPct val="120000"/>
              </a:lnSpc>
              <a:buSzPct val="120000"/>
              <a:buBlip>
                <a:blip r:embed="rId2"/>
              </a:buBlip>
            </a:pPr>
            <a:r>
              <a:rPr lang="en-US" noProof="0" dirty="0"/>
              <a:t> Queries for business activities</a:t>
            </a:r>
          </a:p>
          <a:p>
            <a:pPr>
              <a:lnSpc>
                <a:spcPct val="150000"/>
              </a:lnSpc>
              <a:buSzPct val="120000"/>
              <a:buBlip>
                <a:blip r:embed="rId2"/>
              </a:buBlip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93387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F834F5-789E-28F7-83C4-5E47CE14B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Business domain - Ski School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97950C6-E184-C5B4-0300-6C008DB352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SzPct val="120000"/>
              <a:buBlip>
                <a:blip r:embed="rId2"/>
              </a:buBlip>
            </a:pPr>
            <a:r>
              <a:rPr lang="en-US" dirty="0"/>
              <a:t> Ski school offering lessons and equipment rental </a:t>
            </a:r>
          </a:p>
          <a:p>
            <a:pPr>
              <a:lnSpc>
                <a:spcPct val="150000"/>
              </a:lnSpc>
              <a:buSzPct val="120000"/>
              <a:buBlip>
                <a:blip r:embed="rId2"/>
              </a:buBlip>
            </a:pPr>
            <a:r>
              <a:rPr lang="en-US" dirty="0"/>
              <a:t> Handles both individual customers and group bookings</a:t>
            </a:r>
          </a:p>
          <a:p>
            <a:pPr>
              <a:lnSpc>
                <a:spcPct val="150000"/>
              </a:lnSpc>
              <a:buSzPct val="120000"/>
              <a:buBlip>
                <a:blip r:embed="rId2"/>
              </a:buBlip>
            </a:pPr>
            <a:r>
              <a:rPr lang="en-US" dirty="0"/>
              <a:t> Lesson planning requires coordination of a lot of things</a:t>
            </a:r>
          </a:p>
          <a:p>
            <a:pPr>
              <a:lnSpc>
                <a:spcPct val="150000"/>
              </a:lnSpc>
              <a:buSzPct val="120000"/>
              <a:buBlip>
                <a:blip r:embed="rId2"/>
              </a:buBlip>
            </a:pPr>
            <a:r>
              <a:rPr lang="en-US" dirty="0"/>
              <a:t> That’s why it requires structured data management for every daily operation</a:t>
            </a:r>
          </a:p>
        </p:txBody>
      </p:sp>
    </p:spTree>
    <p:extLst>
      <p:ext uri="{BB962C8B-B14F-4D97-AF65-F5344CB8AC3E}">
        <p14:creationId xmlns:p14="http://schemas.microsoft.com/office/powerpoint/2010/main" val="1247636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64721-6D32-CE96-8C7B-44BD7DE1A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801AB7-DFEE-53BA-5EB9-9B7F627AC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Core Business Activities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C2B5CC0-76B4-184D-B3F4-4252075CF0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SzPct val="120000"/>
              <a:buBlip>
                <a:blip r:embed="rId2"/>
              </a:buBlip>
            </a:pPr>
            <a:r>
              <a:rPr lang="en-US" dirty="0"/>
              <a:t> Customer management </a:t>
            </a:r>
          </a:p>
          <a:p>
            <a:pPr>
              <a:buSzPct val="120000"/>
              <a:buBlip>
                <a:blip r:embed="rId2"/>
              </a:buBlip>
            </a:pPr>
            <a:r>
              <a:rPr lang="en-US" dirty="0"/>
              <a:t> Instructor management </a:t>
            </a:r>
          </a:p>
          <a:p>
            <a:pPr>
              <a:buSzPct val="120000"/>
              <a:buBlip>
                <a:blip r:embed="rId2"/>
              </a:buBlip>
            </a:pPr>
            <a:r>
              <a:rPr lang="en-US" dirty="0"/>
              <a:t> Equipment rental </a:t>
            </a:r>
          </a:p>
          <a:p>
            <a:pPr>
              <a:buSzPct val="120000"/>
              <a:buBlip>
                <a:blip r:embed="rId2"/>
              </a:buBlip>
            </a:pPr>
            <a:r>
              <a:rPr lang="en-US" dirty="0"/>
              <a:t> Lesson scheduling </a:t>
            </a:r>
          </a:p>
          <a:p>
            <a:pPr>
              <a:buSzPct val="120000"/>
              <a:buBlip>
                <a:blip r:embed="rId2"/>
              </a:buBlip>
            </a:pPr>
            <a:r>
              <a:rPr lang="en-US" dirty="0"/>
              <a:t> Mountain and condition tracking</a:t>
            </a:r>
          </a:p>
        </p:txBody>
      </p:sp>
    </p:spTree>
    <p:extLst>
      <p:ext uri="{BB962C8B-B14F-4D97-AF65-F5344CB8AC3E}">
        <p14:creationId xmlns:p14="http://schemas.microsoft.com/office/powerpoint/2010/main" val="2338713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FE3E1-23D2-98EA-5624-3AE232698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8C971F-199A-A893-F148-F9247DAED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Customer Management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D8537E8-F6BC-C4F8-F45B-6DD36B7470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SzPct val="120000"/>
              <a:buBlip>
                <a:blip r:embed="rId2"/>
              </a:buBlip>
            </a:pPr>
            <a:r>
              <a:rPr lang="en-US" dirty="0"/>
              <a:t> Customer registration requires </a:t>
            </a:r>
            <a:r>
              <a:rPr lang="en-US" b="1" dirty="0"/>
              <a:t>inserting</a:t>
            </a:r>
          </a:p>
          <a:p>
            <a:pPr>
              <a:lnSpc>
                <a:spcPct val="150000"/>
              </a:lnSpc>
              <a:buSzPct val="120000"/>
              <a:buBlip>
                <a:blip r:embed="rId2"/>
              </a:buBlip>
            </a:pPr>
            <a:r>
              <a:rPr lang="en-US" dirty="0"/>
              <a:t> Updating contact info or skill level requires </a:t>
            </a:r>
            <a:r>
              <a:rPr lang="en-US" b="1" dirty="0"/>
              <a:t>updating</a:t>
            </a:r>
            <a:r>
              <a:rPr lang="en-US" dirty="0"/>
              <a:t> </a:t>
            </a:r>
          </a:p>
          <a:p>
            <a:pPr>
              <a:lnSpc>
                <a:spcPct val="150000"/>
              </a:lnSpc>
              <a:buSzPct val="120000"/>
              <a:buBlip>
                <a:blip r:embed="rId2"/>
              </a:buBlip>
            </a:pPr>
            <a:r>
              <a:rPr lang="en-US" dirty="0"/>
              <a:t> Removing inactive customers requires </a:t>
            </a:r>
            <a:r>
              <a:rPr lang="en-US" b="1" dirty="0"/>
              <a:t>deleting</a:t>
            </a:r>
          </a:p>
          <a:p>
            <a:pPr>
              <a:lnSpc>
                <a:spcPct val="150000"/>
              </a:lnSpc>
              <a:buSzPct val="120000"/>
              <a:buBlip>
                <a:blip r:embed="rId2"/>
              </a:buBlip>
            </a:pPr>
            <a:r>
              <a:rPr lang="en-US" dirty="0"/>
              <a:t> Lesson bookings and rentals need to retrieve customer data to link them to their activities</a:t>
            </a:r>
          </a:p>
        </p:txBody>
      </p:sp>
    </p:spTree>
    <p:extLst>
      <p:ext uri="{BB962C8B-B14F-4D97-AF65-F5344CB8AC3E}">
        <p14:creationId xmlns:p14="http://schemas.microsoft.com/office/powerpoint/2010/main" val="1026723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EE3BF-C50C-FCCB-A58A-07B0E2CE4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C1C34C-7A75-6C78-065F-ECCD372FB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Instructor Management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52B9101-924F-272C-5C34-EDF827214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SzPct val="120000"/>
              <a:buBlip>
                <a:blip r:embed="rId2"/>
              </a:buBlip>
            </a:pPr>
            <a:r>
              <a:rPr lang="en-US" noProof="0" dirty="0"/>
              <a:t> Hiring instructors requires </a:t>
            </a:r>
            <a:r>
              <a:rPr lang="en-US" b="1" noProof="0" dirty="0"/>
              <a:t>inserting</a:t>
            </a:r>
          </a:p>
          <a:p>
            <a:pPr>
              <a:lnSpc>
                <a:spcPct val="150000"/>
              </a:lnSpc>
              <a:buSzPct val="120000"/>
              <a:buBlip>
                <a:blip r:embed="rId2"/>
              </a:buBlip>
            </a:pPr>
            <a:r>
              <a:rPr lang="en-US" noProof="0" dirty="0"/>
              <a:t> Experience and salary must be </a:t>
            </a:r>
            <a:r>
              <a:rPr lang="en-US" b="1" noProof="0" dirty="0"/>
              <a:t>updated</a:t>
            </a:r>
            <a:r>
              <a:rPr lang="en-US" noProof="0" dirty="0"/>
              <a:t> regularly</a:t>
            </a:r>
          </a:p>
          <a:p>
            <a:pPr>
              <a:lnSpc>
                <a:spcPct val="150000"/>
              </a:lnSpc>
              <a:buSzPct val="120000"/>
              <a:buBlip>
                <a:blip r:embed="rId2"/>
              </a:buBlip>
            </a:pPr>
            <a:r>
              <a:rPr lang="en-US" noProof="0" dirty="0"/>
              <a:t> Removing former instructors requires </a:t>
            </a:r>
            <a:r>
              <a:rPr lang="en-US" b="1" noProof="0" dirty="0"/>
              <a:t>deleting</a:t>
            </a:r>
            <a:r>
              <a:rPr lang="en-US" noProof="0" dirty="0"/>
              <a:t> </a:t>
            </a:r>
          </a:p>
          <a:p>
            <a:pPr>
              <a:lnSpc>
                <a:spcPct val="150000"/>
              </a:lnSpc>
              <a:buSzPct val="120000"/>
              <a:buBlip>
                <a:blip r:embed="rId2"/>
              </a:buBlip>
            </a:pPr>
            <a:r>
              <a:rPr lang="en-US" noProof="0" dirty="0"/>
              <a:t> Scheduling lessons requires retrieving instructor qualifications and availability</a:t>
            </a:r>
          </a:p>
        </p:txBody>
      </p:sp>
    </p:spTree>
    <p:extLst>
      <p:ext uri="{BB962C8B-B14F-4D97-AF65-F5344CB8AC3E}">
        <p14:creationId xmlns:p14="http://schemas.microsoft.com/office/powerpoint/2010/main" val="296689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F72EF-2577-2122-6AB0-EE881FF41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F55264-4A77-F358-34AA-5682A0715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Equipment Rental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220B7F7-932C-89BF-8BA4-F081B25620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SzPct val="120000"/>
              <a:buBlip>
                <a:blip r:embed="rId2"/>
              </a:buBlip>
            </a:pPr>
            <a:r>
              <a:rPr lang="en-US" noProof="0" dirty="0"/>
              <a:t> Creating a rental transaction requires </a:t>
            </a:r>
            <a:r>
              <a:rPr lang="en-US" b="1" noProof="0" dirty="0"/>
              <a:t>inserting</a:t>
            </a:r>
            <a:r>
              <a:rPr lang="en-US" noProof="0" dirty="0"/>
              <a:t> records into Rent and </a:t>
            </a:r>
            <a:r>
              <a:rPr lang="en-US" noProof="0" dirty="0" err="1"/>
              <a:t>RentItem</a:t>
            </a:r>
            <a:endParaRPr lang="en-US" noProof="0" dirty="0"/>
          </a:p>
          <a:p>
            <a:pPr>
              <a:lnSpc>
                <a:spcPct val="150000"/>
              </a:lnSpc>
              <a:buSzPct val="120000"/>
              <a:buBlip>
                <a:blip r:embed="rId2"/>
              </a:buBlip>
            </a:pPr>
            <a:r>
              <a:rPr lang="en-US" noProof="0" dirty="0"/>
              <a:t> Removing canceled or wrong rentals requires </a:t>
            </a:r>
            <a:r>
              <a:rPr lang="en-US" b="1" noProof="0" dirty="0"/>
              <a:t>deleting</a:t>
            </a:r>
          </a:p>
          <a:p>
            <a:pPr>
              <a:lnSpc>
                <a:spcPct val="150000"/>
              </a:lnSpc>
              <a:buSzPct val="120000"/>
              <a:buBlip>
                <a:blip r:embed="rId2"/>
              </a:buBlip>
            </a:pPr>
            <a:r>
              <a:rPr lang="en-US" noProof="0" dirty="0"/>
              <a:t> Determining availability requires retrieving rental records linked to the equipment</a:t>
            </a:r>
          </a:p>
        </p:txBody>
      </p:sp>
    </p:spTree>
    <p:extLst>
      <p:ext uri="{BB962C8B-B14F-4D97-AF65-F5344CB8AC3E}">
        <p14:creationId xmlns:p14="http://schemas.microsoft.com/office/powerpoint/2010/main" val="2926526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D6486-6922-F082-8B9D-70FC7E0C5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0F8F6A-028C-341E-E5BC-2D2086246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Lesson Scheduling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AC92DE5-5D21-458E-C97A-B6DD754702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SzPct val="120000"/>
              <a:buBlip>
                <a:blip r:embed="rId2"/>
              </a:buBlip>
            </a:pPr>
            <a:r>
              <a:rPr lang="en-US" noProof="0" dirty="0"/>
              <a:t> Creating a lesson (date, group, instructor, mountain, condition) requires </a:t>
            </a:r>
            <a:r>
              <a:rPr lang="en-US" b="1" noProof="0" dirty="0"/>
              <a:t>inserting</a:t>
            </a:r>
          </a:p>
          <a:p>
            <a:pPr>
              <a:lnSpc>
                <a:spcPct val="150000"/>
              </a:lnSpc>
              <a:buSzPct val="120000"/>
              <a:buBlip>
                <a:blip r:embed="rId2"/>
              </a:buBlip>
            </a:pPr>
            <a:r>
              <a:rPr lang="en-US" noProof="0" dirty="0"/>
              <a:t> Changing the instructor, date, price, or skill requirement requires </a:t>
            </a:r>
            <a:r>
              <a:rPr lang="en-US" b="1" noProof="0" dirty="0"/>
              <a:t>updating</a:t>
            </a:r>
          </a:p>
          <a:p>
            <a:pPr>
              <a:lnSpc>
                <a:spcPct val="150000"/>
              </a:lnSpc>
              <a:buSzPct val="120000"/>
              <a:buBlip>
                <a:blip r:embed="rId2"/>
              </a:buBlip>
            </a:pPr>
            <a:r>
              <a:rPr lang="en-US" noProof="0" dirty="0"/>
              <a:t> Canceling a planned lesson requires </a:t>
            </a:r>
            <a:r>
              <a:rPr lang="en-US" b="1" noProof="0" dirty="0"/>
              <a:t>deleting</a:t>
            </a:r>
          </a:p>
          <a:p>
            <a:pPr>
              <a:lnSpc>
                <a:spcPct val="150000"/>
              </a:lnSpc>
              <a:buSzPct val="120000"/>
              <a:buBlip>
                <a:blip r:embed="rId2"/>
              </a:buBlip>
            </a:pPr>
            <a:r>
              <a:rPr lang="en-US" noProof="0" dirty="0"/>
              <a:t> Planning and overviews require retrieving lesson details</a:t>
            </a:r>
          </a:p>
        </p:txBody>
      </p:sp>
    </p:spTree>
    <p:extLst>
      <p:ext uri="{BB962C8B-B14F-4D97-AF65-F5344CB8AC3E}">
        <p14:creationId xmlns:p14="http://schemas.microsoft.com/office/powerpoint/2010/main" val="28985616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92B64-30C8-4A6D-246D-BBE18C006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23B2ED-9026-EFDC-B453-25841214D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Mountain &amp; Condition Tracking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7FDAF21-3F24-7FF9-D60D-5DD59C5F8B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buSzPct val="120000"/>
              <a:buBlip>
                <a:blip r:embed="rId2"/>
              </a:buBlip>
            </a:pPr>
            <a:r>
              <a:rPr lang="en-US" noProof="0" dirty="0"/>
              <a:t> Recording mountain details or weather/snow conditions requires </a:t>
            </a:r>
            <a:r>
              <a:rPr lang="en-US" b="1" noProof="0" dirty="0"/>
              <a:t>inserting</a:t>
            </a:r>
            <a:r>
              <a:rPr lang="en-US" noProof="0" dirty="0"/>
              <a:t> </a:t>
            </a:r>
          </a:p>
          <a:p>
            <a:pPr>
              <a:lnSpc>
                <a:spcPct val="150000"/>
              </a:lnSpc>
              <a:buSzPct val="120000"/>
              <a:buBlip>
                <a:blip r:embed="rId2"/>
              </a:buBlip>
            </a:pPr>
            <a:r>
              <a:rPr lang="en-US" noProof="0" dirty="0"/>
              <a:t>Updating mountain difficulty or changing weather data requires </a:t>
            </a:r>
            <a:r>
              <a:rPr lang="en-US" b="1" noProof="0" dirty="0"/>
              <a:t>updating</a:t>
            </a:r>
            <a:r>
              <a:rPr lang="en-US" noProof="0" dirty="0"/>
              <a:t> </a:t>
            </a:r>
          </a:p>
          <a:p>
            <a:pPr>
              <a:lnSpc>
                <a:spcPct val="150000"/>
              </a:lnSpc>
              <a:buSzPct val="120000"/>
              <a:buBlip>
                <a:blip r:embed="rId2"/>
              </a:buBlip>
            </a:pPr>
            <a:r>
              <a:rPr lang="en-US" noProof="0" dirty="0"/>
              <a:t>Removing outdated or unused entries requires </a:t>
            </a:r>
            <a:r>
              <a:rPr lang="en-US" b="1" noProof="0" dirty="0"/>
              <a:t>deleting</a:t>
            </a:r>
            <a:r>
              <a:rPr lang="en-US" noProof="0" dirty="0"/>
              <a:t> </a:t>
            </a:r>
          </a:p>
          <a:p>
            <a:pPr>
              <a:lnSpc>
                <a:spcPct val="150000"/>
              </a:lnSpc>
              <a:buSzPct val="120000"/>
              <a:buBlip>
                <a:blip r:embed="rId2"/>
              </a:buBlip>
            </a:pPr>
            <a:r>
              <a:rPr lang="en-US" noProof="0" dirty="0"/>
              <a:t> Safe lesson planning requires retrieving mountain height, difficulty, and conditions</a:t>
            </a:r>
          </a:p>
        </p:txBody>
      </p:sp>
    </p:spTree>
    <p:extLst>
      <p:ext uri="{BB962C8B-B14F-4D97-AF65-F5344CB8AC3E}">
        <p14:creationId xmlns:p14="http://schemas.microsoft.com/office/powerpoint/2010/main" val="1814722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64E99-0B37-08F8-A2B8-C27C396EF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58E3B7-581D-A1E8-5162-E80723147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Database Design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20B13FDD-FABA-991F-B3D8-A67C40F37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5437" y="1417719"/>
            <a:ext cx="6058733" cy="5440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943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3EEBE-BADB-371B-59EE-4CE98E088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F5039E-F10D-B874-11A9-755801ACD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Business Queries (1/2)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F341275-AF64-F88F-D456-79EFF7B18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>
              <a:buSzPct val="120000"/>
              <a:buBlip>
                <a:blip r:embed="rId2"/>
              </a:buBlip>
            </a:pPr>
            <a:r>
              <a:rPr lang="en-US" dirty="0"/>
              <a:t>Use case 1:  Retrieves all lessons taught by a specific instructor, including the skill level, mountain name, and lesson date.</a:t>
            </a:r>
          </a:p>
          <a:p>
            <a:pPr>
              <a:buSzPct val="120000"/>
              <a:buBlip>
                <a:blip r:embed="rId2"/>
              </a:buBlip>
            </a:pPr>
            <a:r>
              <a:rPr lang="en-US" dirty="0"/>
              <a:t>Use case 2: Fetches all lessons a specific customer participated in, showing the mountain and lesson date.</a:t>
            </a:r>
          </a:p>
          <a:p>
            <a:pPr>
              <a:buSzPct val="120000"/>
              <a:buBlip>
                <a:blip r:embed="rId2"/>
              </a:buBlip>
            </a:pPr>
            <a:r>
              <a:rPr lang="en-US" dirty="0"/>
              <a:t>Use case 3: Equipment Manger wants to see how many skis are available for rent on a given date by excluding all skis already rented out.</a:t>
            </a:r>
          </a:p>
          <a:p>
            <a:pPr>
              <a:buSzPct val="120000"/>
              <a:buBlip>
                <a:blip r:embed="rId2"/>
              </a:buBlip>
            </a:pPr>
            <a:r>
              <a:rPr lang="en-US" dirty="0"/>
              <a:t>Use case 4: Returns detailed information about an instructor, including first name, last name, salary, and years of experience.</a:t>
            </a:r>
          </a:p>
          <a:p>
            <a:pPr>
              <a:buSzPct val="120000"/>
              <a:buBlip>
                <a:blip r:embed="rId2"/>
              </a:buBlip>
            </a:pPr>
            <a:r>
              <a:rPr lang="en-US" dirty="0"/>
              <a:t>Use case 5: Updates the salary of a specific instructor based on their first and last name.</a:t>
            </a:r>
          </a:p>
        </p:txBody>
      </p:sp>
    </p:spTree>
    <p:extLst>
      <p:ext uri="{BB962C8B-B14F-4D97-AF65-F5344CB8AC3E}">
        <p14:creationId xmlns:p14="http://schemas.microsoft.com/office/powerpoint/2010/main" val="38082540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F2600-DD9C-BC5C-5908-5C4B014D7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F9EB68-1E42-8A91-C101-1712A70E4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Business Queries (2/2)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75015AB-3A2F-FE82-DF04-6962493D6F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/>
          </a:bodyPr>
          <a:lstStyle/>
          <a:p>
            <a:pPr>
              <a:buSzPct val="120000"/>
              <a:buBlip>
                <a:blip r:embed="rId2"/>
              </a:buBlip>
            </a:pPr>
            <a:r>
              <a:rPr lang="en-US" dirty="0"/>
              <a:t>Use case 6: Retrieves the weather and snow conditions for all lessons scheduled on a specific date.</a:t>
            </a:r>
          </a:p>
          <a:p>
            <a:pPr>
              <a:buSzPct val="120000"/>
              <a:buBlip>
                <a:blip r:embed="rId2"/>
              </a:buBlip>
            </a:pPr>
            <a:r>
              <a:rPr lang="en-US" dirty="0"/>
              <a:t>Use case 7: Returns the number of customers in a group for lessons of a given skill level on a specific date.</a:t>
            </a:r>
          </a:p>
          <a:p>
            <a:pPr>
              <a:buSzPct val="120000"/>
              <a:buBlip>
                <a:blip r:embed="rId2"/>
              </a:buBlip>
            </a:pPr>
            <a:r>
              <a:rPr lang="en-US" dirty="0"/>
              <a:t>Use case 8: Aggregates customers by nationality and lists how many customers come from each country, ordered from most to least.</a:t>
            </a:r>
          </a:p>
          <a:p>
            <a:pPr>
              <a:buSzPct val="120000"/>
              <a:buBlip>
                <a:blip r:embed="rId2"/>
              </a:buBlip>
            </a:pPr>
            <a:r>
              <a:rPr lang="en-US" dirty="0"/>
              <a:t>Use case 9: Fetches all mountains that match a chosen skill level, including their names and heights.</a:t>
            </a:r>
          </a:p>
          <a:p>
            <a:pPr>
              <a:buSzPct val="120000"/>
              <a:buBlip>
                <a:blip r:embed="rId2"/>
              </a:buBlip>
            </a:pPr>
            <a:r>
              <a:rPr lang="en-US" dirty="0"/>
              <a:t>Use case 10: Calculates the total revenue generated by a specific customer based on all lessons they participated in.</a:t>
            </a:r>
          </a:p>
        </p:txBody>
      </p:sp>
    </p:spTree>
    <p:extLst>
      <p:ext uri="{BB962C8B-B14F-4D97-AF65-F5344CB8AC3E}">
        <p14:creationId xmlns:p14="http://schemas.microsoft.com/office/powerpoint/2010/main" val="34601267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02265-70DC-0C04-07B3-81A8B5132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907C26-C799-0BD6-3E0E-92B453CFB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Functional dependencies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AEF9959-2586-B830-150D-D27513C5D7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>
              <a:buSzPct val="120000"/>
              <a:buBlip>
                <a:blip r:embed="rId2"/>
              </a:buBlip>
            </a:pPr>
            <a:r>
              <a:rPr lang="en-US" sz="2400" b="1" noProof="0" dirty="0" err="1"/>
              <a:t>RentalItem</a:t>
            </a:r>
            <a:r>
              <a:rPr lang="en-US" sz="2400" noProof="0" dirty="0"/>
              <a:t> Table: id → </a:t>
            </a:r>
            <a:r>
              <a:rPr lang="en-US" sz="2400" noProof="0" dirty="0" err="1"/>
              <a:t>rentId</a:t>
            </a:r>
            <a:r>
              <a:rPr lang="en-US" sz="2400" noProof="0" dirty="0"/>
              <a:t>, </a:t>
            </a:r>
            <a:r>
              <a:rPr lang="en-US" sz="2400" noProof="0" dirty="0" err="1"/>
              <a:t>equipmentId</a:t>
            </a:r>
            <a:r>
              <a:rPr lang="en-US" sz="2400" noProof="0" dirty="0"/>
              <a:t> </a:t>
            </a:r>
          </a:p>
          <a:p>
            <a:pPr>
              <a:buSzPct val="120000"/>
              <a:buBlip>
                <a:blip r:embed="rId2"/>
              </a:buBlip>
            </a:pPr>
            <a:r>
              <a:rPr lang="en-US" sz="2400" b="1" noProof="0" dirty="0"/>
              <a:t>Rent</a:t>
            </a:r>
            <a:r>
              <a:rPr lang="en-US" sz="2400" noProof="0" dirty="0"/>
              <a:t> Table: id → </a:t>
            </a:r>
            <a:r>
              <a:rPr lang="en-US" sz="2400" noProof="0" dirty="0" err="1"/>
              <a:t>customerId</a:t>
            </a:r>
            <a:r>
              <a:rPr lang="en-US" sz="2400" noProof="0" dirty="0"/>
              <a:t>, date </a:t>
            </a:r>
          </a:p>
          <a:p>
            <a:pPr>
              <a:buSzPct val="120000"/>
              <a:buBlip>
                <a:blip r:embed="rId2"/>
              </a:buBlip>
            </a:pPr>
            <a:r>
              <a:rPr lang="en-US" sz="2400" b="1" noProof="0" dirty="0"/>
              <a:t>Customer</a:t>
            </a:r>
            <a:r>
              <a:rPr lang="en-US" sz="2400" noProof="0" dirty="0"/>
              <a:t> Table: id → </a:t>
            </a:r>
            <a:r>
              <a:rPr lang="en-US" sz="2400" noProof="0" dirty="0" err="1"/>
              <a:t>firstName</a:t>
            </a:r>
            <a:r>
              <a:rPr lang="en-US" sz="2400" noProof="0" dirty="0"/>
              <a:t>, </a:t>
            </a:r>
            <a:r>
              <a:rPr lang="en-US" sz="2400" noProof="0" dirty="0" err="1"/>
              <a:t>lastName</a:t>
            </a:r>
            <a:r>
              <a:rPr lang="en-US" sz="2400" noProof="0" dirty="0"/>
              <a:t>, email, </a:t>
            </a:r>
            <a:r>
              <a:rPr lang="en-US" sz="2400" noProof="0" dirty="0" err="1"/>
              <a:t>phoneNr</a:t>
            </a:r>
            <a:r>
              <a:rPr lang="en-US" sz="2400" noProof="0" dirty="0"/>
              <a:t>, nationality, </a:t>
            </a:r>
            <a:r>
              <a:rPr lang="en-US" sz="2400" noProof="0" dirty="0" err="1"/>
              <a:t>skillId</a:t>
            </a:r>
            <a:r>
              <a:rPr lang="en-US" sz="2400" noProof="0" dirty="0"/>
              <a:t> </a:t>
            </a:r>
          </a:p>
          <a:p>
            <a:pPr>
              <a:buSzPct val="120000"/>
              <a:buBlip>
                <a:blip r:embed="rId2"/>
              </a:buBlip>
            </a:pPr>
            <a:r>
              <a:rPr lang="en-US" sz="2400" b="1" noProof="0" dirty="0" err="1"/>
              <a:t>SkillLevel</a:t>
            </a:r>
            <a:r>
              <a:rPr lang="en-US" sz="2400" noProof="0" dirty="0"/>
              <a:t> Table: id → description </a:t>
            </a:r>
          </a:p>
          <a:p>
            <a:pPr>
              <a:buSzPct val="120000"/>
              <a:buBlip>
                <a:blip r:embed="rId2"/>
              </a:buBlip>
            </a:pPr>
            <a:r>
              <a:rPr lang="en-US" sz="2400" b="1" noProof="0" dirty="0" err="1"/>
              <a:t>GroupCustomer</a:t>
            </a:r>
            <a:r>
              <a:rPr lang="en-US" sz="2400" noProof="0" dirty="0"/>
              <a:t> Table: id → </a:t>
            </a:r>
            <a:r>
              <a:rPr lang="en-US" sz="2400" noProof="0" dirty="0" err="1"/>
              <a:t>groupId</a:t>
            </a:r>
            <a:r>
              <a:rPr lang="en-US" sz="2400" noProof="0" dirty="0"/>
              <a:t>, </a:t>
            </a:r>
            <a:r>
              <a:rPr lang="en-US" sz="2400" noProof="0" dirty="0" err="1"/>
              <a:t>customerId</a:t>
            </a:r>
            <a:r>
              <a:rPr lang="en-US" sz="2400" noProof="0" dirty="0"/>
              <a:t> </a:t>
            </a:r>
          </a:p>
          <a:p>
            <a:pPr>
              <a:buSzPct val="120000"/>
              <a:buBlip>
                <a:blip r:embed="rId2"/>
              </a:buBlip>
            </a:pPr>
            <a:r>
              <a:rPr lang="en-US" sz="2400" b="1" noProof="0" dirty="0" err="1"/>
              <a:t>GroupTable</a:t>
            </a:r>
            <a:r>
              <a:rPr lang="en-US" sz="2400" noProof="0" dirty="0"/>
              <a:t> Table: id → name </a:t>
            </a:r>
          </a:p>
          <a:p>
            <a:pPr>
              <a:buSzPct val="120000"/>
              <a:buBlip>
                <a:blip r:embed="rId2"/>
              </a:buBlip>
            </a:pPr>
            <a:r>
              <a:rPr lang="en-US" sz="2400" b="1" noProof="0" dirty="0"/>
              <a:t>Instructors</a:t>
            </a:r>
            <a:r>
              <a:rPr lang="en-US" sz="2400" noProof="0" dirty="0"/>
              <a:t> Table: id → </a:t>
            </a:r>
            <a:r>
              <a:rPr lang="en-US" sz="2400" noProof="0" dirty="0" err="1"/>
              <a:t>firstName</a:t>
            </a:r>
            <a:r>
              <a:rPr lang="en-US" sz="2400" noProof="0" dirty="0"/>
              <a:t>, </a:t>
            </a:r>
            <a:r>
              <a:rPr lang="en-US" sz="2400" noProof="0" dirty="0" err="1"/>
              <a:t>lastName</a:t>
            </a:r>
            <a:r>
              <a:rPr lang="en-US" sz="2400" noProof="0" dirty="0"/>
              <a:t>, email, </a:t>
            </a:r>
            <a:r>
              <a:rPr lang="en-US" sz="2400" noProof="0" dirty="0" err="1"/>
              <a:t>phoneNr</a:t>
            </a:r>
            <a:r>
              <a:rPr lang="en-US" sz="2400" noProof="0" dirty="0"/>
              <a:t>, nationality, salary, </a:t>
            </a:r>
            <a:r>
              <a:rPr lang="en-US" sz="2400" noProof="0" dirty="0" err="1"/>
              <a:t>yearsExperience</a:t>
            </a:r>
            <a:r>
              <a:rPr lang="en-US" sz="2400" noProof="0" dirty="0"/>
              <a:t> </a:t>
            </a:r>
          </a:p>
          <a:p>
            <a:pPr>
              <a:buSzPct val="120000"/>
              <a:buBlip>
                <a:blip r:embed="rId2"/>
              </a:buBlip>
            </a:pPr>
            <a:r>
              <a:rPr lang="en-US" sz="2400" b="1" noProof="0" dirty="0"/>
              <a:t>Poles</a:t>
            </a:r>
            <a:r>
              <a:rPr lang="en-US" sz="2400" noProof="0" dirty="0"/>
              <a:t> Table: id → length, material </a:t>
            </a:r>
          </a:p>
          <a:p>
            <a:pPr>
              <a:buSzPct val="120000"/>
              <a:buBlip>
                <a:blip r:embed="rId2"/>
              </a:buBlip>
            </a:pPr>
            <a:r>
              <a:rPr lang="en-US" sz="2400" b="1" noProof="0" dirty="0"/>
              <a:t>Ski</a:t>
            </a:r>
            <a:r>
              <a:rPr lang="en-US" sz="2400" noProof="0" dirty="0"/>
              <a:t> Table: id → length, radius </a:t>
            </a:r>
          </a:p>
          <a:p>
            <a:pPr>
              <a:buSzPct val="120000"/>
              <a:buBlip>
                <a:blip r:embed="rId2"/>
              </a:buBlip>
            </a:pPr>
            <a:r>
              <a:rPr lang="en-US" sz="2400" b="1" noProof="0" dirty="0"/>
              <a:t>Equipment</a:t>
            </a:r>
            <a:r>
              <a:rPr lang="en-US" sz="2400" noProof="0" dirty="0"/>
              <a:t> Table: id → brand, price </a:t>
            </a:r>
          </a:p>
          <a:p>
            <a:pPr>
              <a:buSzPct val="120000"/>
              <a:buBlip>
                <a:blip r:embed="rId2"/>
              </a:buBlip>
            </a:pPr>
            <a:r>
              <a:rPr lang="en-US" sz="2400" b="1" noProof="0" dirty="0"/>
              <a:t>Mountain</a:t>
            </a:r>
            <a:r>
              <a:rPr lang="en-US" sz="2400" noProof="0" dirty="0"/>
              <a:t> Table: id → </a:t>
            </a:r>
            <a:r>
              <a:rPr lang="en-US" sz="2400" noProof="0" dirty="0" err="1"/>
              <a:t>skillId</a:t>
            </a:r>
            <a:r>
              <a:rPr lang="en-US" sz="2400" noProof="0" dirty="0"/>
              <a:t>, name, height </a:t>
            </a:r>
          </a:p>
          <a:p>
            <a:pPr>
              <a:buSzPct val="120000"/>
              <a:buBlip>
                <a:blip r:embed="rId2"/>
              </a:buBlip>
            </a:pPr>
            <a:r>
              <a:rPr lang="en-US" sz="2400" b="1" noProof="0" dirty="0"/>
              <a:t>Lesson</a:t>
            </a:r>
            <a:r>
              <a:rPr lang="en-US" sz="2400" noProof="0" dirty="0"/>
              <a:t> Table: id → </a:t>
            </a:r>
            <a:r>
              <a:rPr lang="en-US" sz="2400" noProof="0" dirty="0" err="1"/>
              <a:t>groupId</a:t>
            </a:r>
            <a:r>
              <a:rPr lang="en-US" sz="2400" noProof="0" dirty="0"/>
              <a:t>, </a:t>
            </a:r>
            <a:r>
              <a:rPr lang="en-US" sz="2400" noProof="0" dirty="0" err="1"/>
              <a:t>instructorId</a:t>
            </a:r>
            <a:r>
              <a:rPr lang="en-US" sz="2400" noProof="0" dirty="0"/>
              <a:t>, </a:t>
            </a:r>
            <a:r>
              <a:rPr lang="en-US" sz="2400" noProof="0" dirty="0" err="1"/>
              <a:t>conditionId</a:t>
            </a:r>
            <a:r>
              <a:rPr lang="en-US" sz="2400" noProof="0" dirty="0"/>
              <a:t>, </a:t>
            </a:r>
            <a:r>
              <a:rPr lang="en-US" sz="2400" noProof="0" dirty="0" err="1"/>
              <a:t>mountainId</a:t>
            </a:r>
            <a:r>
              <a:rPr lang="en-US" sz="2400" noProof="0" dirty="0"/>
              <a:t>, date, </a:t>
            </a:r>
            <a:r>
              <a:rPr lang="en-US" sz="2400" noProof="0" dirty="0" err="1"/>
              <a:t>skillId</a:t>
            </a:r>
            <a:r>
              <a:rPr lang="en-US" sz="2400" noProof="0" dirty="0"/>
              <a:t>, </a:t>
            </a:r>
            <a:r>
              <a:rPr lang="en-US" sz="2400" noProof="0" dirty="0" err="1"/>
              <a:t>pricePerPerson</a:t>
            </a:r>
            <a:r>
              <a:rPr lang="en-US" sz="2400" noProof="0" dirty="0"/>
              <a:t> </a:t>
            </a:r>
          </a:p>
          <a:p>
            <a:pPr>
              <a:buSzPct val="120000"/>
              <a:buBlip>
                <a:blip r:embed="rId2"/>
              </a:buBlip>
            </a:pPr>
            <a:r>
              <a:rPr lang="en-US" sz="2400" b="1" noProof="0" dirty="0"/>
              <a:t>Conditions</a:t>
            </a:r>
            <a:r>
              <a:rPr lang="en-US" sz="2400" noProof="0" dirty="0"/>
              <a:t> Table: id → </a:t>
            </a:r>
            <a:r>
              <a:rPr lang="en-US" sz="2400" noProof="0" dirty="0" err="1"/>
              <a:t>weatherCondition</a:t>
            </a:r>
            <a:r>
              <a:rPr lang="en-US" sz="2400" noProof="0" dirty="0"/>
              <a:t>, </a:t>
            </a:r>
            <a:r>
              <a:rPr lang="en-US" sz="2400" noProof="0" dirty="0" err="1"/>
              <a:t>snowCondition</a:t>
            </a:r>
            <a:endParaRPr lang="en-US" sz="2400" noProof="0" dirty="0"/>
          </a:p>
        </p:txBody>
      </p:sp>
    </p:spTree>
    <p:extLst>
      <p:ext uri="{BB962C8B-B14F-4D97-AF65-F5344CB8AC3E}">
        <p14:creationId xmlns:p14="http://schemas.microsoft.com/office/powerpoint/2010/main" val="22806651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BB739-D969-75B6-BAF5-85D355035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0FDFA9-AEEF-AE85-B2FE-ABE7F51FE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Requirements to test the application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1FB97E2-D012-A1BB-5DEA-54DEECF0F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Open and run the </a:t>
            </a:r>
            <a:r>
              <a:rPr lang="en-US" dirty="0" err="1"/>
              <a:t>SkiSchool.ipynb</a:t>
            </a:r>
            <a:r>
              <a:rPr lang="en-US" dirty="0"/>
              <a:t> file</a:t>
            </a:r>
          </a:p>
          <a:p>
            <a:pPr marL="514350" indent="-514350">
              <a:buAutoNum type="arabicPeriod"/>
            </a:pPr>
            <a:r>
              <a:rPr lang="en-US" dirty="0"/>
              <a:t>run “pip install flask </a:t>
            </a:r>
            <a:r>
              <a:rPr lang="en-US" dirty="0" err="1"/>
              <a:t>mysql</a:t>
            </a:r>
            <a:r>
              <a:rPr lang="en-US" dirty="0"/>
              <a:t>-connector-python” in terminal</a:t>
            </a:r>
          </a:p>
          <a:p>
            <a:pPr marL="514350" indent="-514350">
              <a:buAutoNum type="arabicPeriod"/>
            </a:pPr>
            <a:r>
              <a:rPr lang="en-US" dirty="0"/>
              <a:t>Open </a:t>
            </a:r>
            <a:r>
              <a:rPr lang="en-US" dirty="0" err="1"/>
              <a:t>main.py</a:t>
            </a:r>
            <a:r>
              <a:rPr lang="en-US" dirty="0"/>
              <a:t>, fill in the password for your connection and run the file</a:t>
            </a:r>
          </a:p>
          <a:p>
            <a:endParaRPr lang="en-US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F9AA250-289D-1530-6A46-055C901299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8247"/>
          <a:stretch>
            <a:fillRect/>
          </a:stretch>
        </p:blipFill>
        <p:spPr>
          <a:xfrm>
            <a:off x="838200" y="3705860"/>
            <a:ext cx="5816600" cy="2606040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C31179EE-018D-F493-723B-A58CD92E7FCD}"/>
              </a:ext>
            </a:extLst>
          </p:cNvPr>
          <p:cNvSpPr/>
          <p:nvPr/>
        </p:nvSpPr>
        <p:spPr>
          <a:xfrm>
            <a:off x="2339732" y="5194203"/>
            <a:ext cx="1463040" cy="2672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462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714</Words>
  <Application>Microsoft Macintosh PowerPoint</Application>
  <PresentationFormat>Breitbild</PresentationFormat>
  <Paragraphs>77</Paragraphs>
  <Slides>14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</vt:lpstr>
      <vt:lpstr>Ski School</vt:lpstr>
      <vt:lpstr>Requirements</vt:lpstr>
      <vt:lpstr>Business domain - Ski School </vt:lpstr>
      <vt:lpstr>Core Business Activities</vt:lpstr>
      <vt:lpstr>Customer Management</vt:lpstr>
      <vt:lpstr>Instructor Management</vt:lpstr>
      <vt:lpstr>Equipment Rental</vt:lpstr>
      <vt:lpstr>Lesson Scheduling</vt:lpstr>
      <vt:lpstr>Mountain &amp; Condition Tracking</vt:lpstr>
      <vt:lpstr>Database Design</vt:lpstr>
      <vt:lpstr>Business Queries (1/2)</vt:lpstr>
      <vt:lpstr>Business Queries (2/2)</vt:lpstr>
      <vt:lpstr>Functional dependencies</vt:lpstr>
      <vt:lpstr>Requirements to test the application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Milchrahm Luca</dc:creator>
  <cp:lastModifiedBy>Milchrahm Luca</cp:lastModifiedBy>
  <cp:revision>50</cp:revision>
  <dcterms:created xsi:type="dcterms:W3CDTF">2025-12-05T03:39:31Z</dcterms:created>
  <dcterms:modified xsi:type="dcterms:W3CDTF">2025-12-09T09:53:55Z</dcterms:modified>
</cp:coreProperties>
</file>